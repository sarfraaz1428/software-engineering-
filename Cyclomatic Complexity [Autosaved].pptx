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5" r:id="rId10"/>
    <p:sldId id="271" r:id="rId11"/>
    <p:sldId id="267" r:id="rId12"/>
    <p:sldId id="268" r:id="rId13"/>
    <p:sldId id="272" r:id="rId14"/>
    <p:sldId id="273" r:id="rId15"/>
    <p:sldId id="263" r:id="rId16"/>
    <p:sldId id="264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2EC8-F18E-47E9-9402-ECFC65FFF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F7B7E-6EAA-46A8-A5C5-DF49C338D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BACCC-3BD0-4F5A-A01A-DCDD6B93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FB7B0-80F2-4C58-914F-13D88039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AECA9-8291-441C-B62D-01A14F98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88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0E35-8A2E-413A-8308-AAF506B2D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E616-D3B6-484D-85EB-6DC0D152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BCEB9-347D-4BBE-82E0-D5A7EB2D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1C83-58D5-4419-8A6E-36D2841B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109E-7F87-4CE5-B4A2-FE1AC74D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43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2E79-E214-4F6D-A37C-D7B43EBF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F175B-050A-4E87-AA06-258BB459D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D107-058E-4790-8776-856D7F959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CBD3-2C95-4740-B426-C2D95821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87944-887F-4F43-886C-E2A42E4A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9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A434-FF83-448E-B612-B4DC2CB0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A128-11B3-44EC-A39C-A7C410B45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04717-AB6E-41DF-B19A-99481631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5AE58-6987-471F-A07F-0BE06500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5F50A-7C6E-4AA5-BA9C-E222A56BB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013A7-6B1F-444B-8FC3-4B5079303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B4F4-8C16-4E4F-BCEF-B20C7BFC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0DA58-443C-4526-AA5C-B8EC2C973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50633-349C-4594-A565-1CF1276A4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8DA60-C4A5-4F3A-AAD8-DA0430E57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183A3-2E3E-4F3D-97A0-65AF2C701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7EF842-1428-4A27-9E4B-081F19F5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9DA6D-435B-4936-80C8-8C27FBD4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66DDC-77F0-4D2A-8E45-21DA13B3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57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F392-EA02-4B31-89C6-0006A598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2ED16-F0EB-470B-AB16-35DDA69F5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F924A-E198-47B5-86D8-86A296F5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BFC8A-91B0-4238-8A6D-63EEF1D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86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00D536-3F6B-420D-9B2D-9E094AC5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B2D72-E692-438A-805E-75ADDBF2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FFBD2-4341-4156-90DD-65FB44B8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8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F782-F5FF-4FEC-B282-A114A18D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5C13-6244-43E8-8479-5C77AB6C5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9D167-A7E0-4FEA-A77E-7E8B5CD73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1028F-2AFA-47FD-BB10-C968996A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67481-98D7-4D02-8DAC-66A3A111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34603-22AF-4BA8-BE88-F9AD7AE8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78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E4BF-7669-4523-ACEF-6E361025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19899-A369-4C1E-A66F-6C4AFFBD7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80C-B4A9-448F-BC7D-B158A6535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9830A-A752-44AF-9D87-23144BA0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E2006-9C12-41C3-B426-E69FF0AB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BD70-354C-4C38-A074-0E8AD4D86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6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DB84-685A-46DB-B19E-D92DBC39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03798-1FDC-408A-91BD-A21691A0F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BB8C2-5D21-4B0C-BCFD-088452CD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4F0F-40C6-4A2B-AF9B-7C6A4F2E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BBC79-753C-4641-A5D2-734451A9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6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5558-01DC-4C79-8960-5C5C672C92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7187C-B8AE-4212-A9E5-2D3B5318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5D920-DA0F-4BBF-BB1B-8955136D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06871-AA18-4E76-B7D5-4457209B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99435-5AA6-41FA-A0D8-60242492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2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9EF146-2C0C-4BBA-93AC-A6CDB74C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8C17-5210-4625-A768-99F26EACE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E3EC4-C2D2-4894-BFE8-D093B76CE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40D81-25E6-4BF6-A034-AB3135F33077}" type="datetimeFigureOut">
              <a:rPr lang="en-IN" smtClean="0"/>
              <a:t>29-11-2025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CE77-87E3-41C7-988D-ED2117ABB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4635-604D-4754-AB5C-DDEF11C0C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12D75-966B-454E-8447-F670BF7E1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1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A196-45B8-4501-B552-55165FEA6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  <a:t>Cyclomatic Complexity-</a:t>
            </a:r>
            <a:br>
              <a:rPr lang="en-US" b="1" i="0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61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EAD4E3-0921-436E-86CF-8313F614DDDD}"/>
              </a:ext>
            </a:extLst>
          </p:cNvPr>
          <p:cNvSpPr txBox="1"/>
          <p:nvPr/>
        </p:nvSpPr>
        <p:spPr>
          <a:xfrm>
            <a:off x="207498" y="219616"/>
            <a:ext cx="1179224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B0604020202020204" pitchFamily="2" charset="0"/>
              </a:rPr>
              <a:t>Cyclomatic Complexity-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B0604020202020204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Cyclomatic Complexity may be defined as-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is a software metric that measures the logical complexity of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counts the number of decisions in the given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measures the number of linearly independent paths through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303030"/>
              </a:solidFill>
              <a:latin typeface="Arimo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Cyclomatic complexity indicates several information about the program code-</a:t>
            </a:r>
          </a:p>
          <a:p>
            <a:br>
              <a:rPr lang="en-US" sz="2800" dirty="0"/>
            </a:br>
            <a:endParaRPr lang="en-US" sz="28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CBF182-524B-474D-AE6B-4BD8988D9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394" y="31166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90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7ACE98-BA4C-4F3B-9746-0D89797C5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666017"/>
              </p:ext>
            </p:extLst>
          </p:nvPr>
        </p:nvGraphicFramePr>
        <p:xfrm>
          <a:off x="1690778" y="42510"/>
          <a:ext cx="7280694" cy="6772979"/>
        </p:xfrm>
        <a:graphic>
          <a:graphicData uri="http://schemas.openxmlformats.org/drawingml/2006/table">
            <a:tbl>
              <a:tblPr/>
              <a:tblGrid>
                <a:gridCol w="2919271">
                  <a:extLst>
                    <a:ext uri="{9D8B030D-6E8A-4147-A177-3AD203B41FA5}">
                      <a16:colId xmlns:a16="http://schemas.microsoft.com/office/drawing/2014/main" val="2702885113"/>
                    </a:ext>
                  </a:extLst>
                </a:gridCol>
                <a:gridCol w="4361423">
                  <a:extLst>
                    <a:ext uri="{9D8B030D-6E8A-4147-A177-3AD203B41FA5}">
                      <a16:colId xmlns:a16="http://schemas.microsoft.com/office/drawing/2014/main" val="4200212143"/>
                    </a:ext>
                  </a:extLst>
                </a:gridCol>
              </a:tblGrid>
              <a:tr h="464231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effectLst/>
                        </a:rPr>
                        <a:t>Cyclomatic Complexity</a:t>
                      </a:r>
                      <a:endParaRPr lang="en-IN" sz="2800" dirty="0">
                        <a:effectLst/>
                      </a:endParaRP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effectLst/>
                        </a:rPr>
                        <a:t>Meaning</a:t>
                      </a:r>
                      <a:endParaRPr lang="en-IN" sz="2800">
                        <a:effectLst/>
                      </a:endParaRP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73735"/>
                  </a:ext>
                </a:extLst>
              </a:tr>
              <a:tr h="172616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1 – 10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Structured and Well Written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Less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893458"/>
                  </a:ext>
                </a:extLst>
              </a:tr>
              <a:tr h="1466418">
                <a:tc>
                  <a:txBody>
                    <a:bodyPr/>
                    <a:lstStyle/>
                    <a:p>
                      <a:pPr algn="ctr"/>
                      <a:r>
                        <a:rPr lang="en-IN" sz="2800">
                          <a:effectLst/>
                        </a:rPr>
                        <a:t>10 – 20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Medium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Medium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536693"/>
                  </a:ext>
                </a:extLst>
              </a:tr>
              <a:tr h="146641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20 – 40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Very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Low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241636"/>
                  </a:ext>
                </a:extLst>
              </a:tr>
              <a:tr h="1522028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effectLst/>
                        </a:rPr>
                        <a:t>&gt; 40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Highly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Not at all Testable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effectLst/>
                        </a:rPr>
                        <a:t>Very High Cost and Effort</a:t>
                      </a:r>
                    </a:p>
                  </a:txBody>
                  <a:tcPr marL="91878" marR="91878" marT="73502" marB="73502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69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28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F082E2-D9B4-449A-906A-A59A018D7112}"/>
              </a:ext>
            </a:extLst>
          </p:cNvPr>
          <p:cNvSpPr txBox="1"/>
          <p:nvPr/>
        </p:nvSpPr>
        <p:spPr>
          <a:xfrm>
            <a:off x="334107" y="268351"/>
            <a:ext cx="1134207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Importance of Cyclomatic Complexity-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in determining the software quality.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is an important indicator of program code’s readability, maintainability and portability.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the developers and testers to determine independent path executions.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helps to focus more on the uncovered paths.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evaluates the risk associated with the application or program.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It provides assurance to the developers that all the paths have been tested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277090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2A1B2-4C43-4613-A131-E0D8F064FF78}"/>
              </a:ext>
            </a:extLst>
          </p:cNvPr>
          <p:cNvSpPr txBox="1"/>
          <p:nvPr/>
        </p:nvSpPr>
        <p:spPr>
          <a:xfrm>
            <a:off x="404446" y="374360"/>
            <a:ext cx="115952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40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Properties of Cyclomatic Complexity-</a:t>
            </a:r>
            <a:endParaRPr lang="en-US" sz="40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is the maximum number of independent paths through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depends only on the number of decisions in the program code.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Insertion or deletion of functional statements from the code does not affect its cyclomatic complexity.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303030"/>
                </a:solidFill>
                <a:effectLst/>
                <a:latin typeface="Arimo"/>
              </a:rPr>
              <a:t>It is always greater than or equal to 1.</a:t>
            </a:r>
          </a:p>
        </p:txBody>
      </p:sp>
    </p:spTree>
    <p:extLst>
      <p:ext uri="{BB962C8B-B14F-4D97-AF65-F5344CB8AC3E}">
        <p14:creationId xmlns:p14="http://schemas.microsoft.com/office/powerpoint/2010/main" val="34541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C5E089-6B04-410F-8FD0-D500DE5112A1}"/>
              </a:ext>
            </a:extLst>
          </p:cNvPr>
          <p:cNvSpPr txBox="1"/>
          <p:nvPr/>
        </p:nvSpPr>
        <p:spPr>
          <a:xfrm>
            <a:off x="291904" y="179590"/>
            <a:ext cx="1167970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Calculating Cyclomatic Complexity-</a:t>
            </a:r>
            <a:endParaRPr lang="en-US" sz="32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Cyclomatic complexity is calculated using the control flow representation of the program code.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In control flow representation of the program code,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Nodes represent parts of the code having no branches.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Edges represent possible control flow transfers during program execution</a:t>
            </a:r>
          </a:p>
          <a:p>
            <a:pPr algn="l" fontAlgn="base"/>
            <a:r>
              <a:rPr lang="en-US" sz="32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653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B070D-57A0-4477-9E86-40EB9ACB0722}"/>
              </a:ext>
            </a:extLst>
          </p:cNvPr>
          <p:cNvSpPr txBox="1"/>
          <p:nvPr/>
        </p:nvSpPr>
        <p:spPr>
          <a:xfrm>
            <a:off x="630808" y="305068"/>
            <a:ext cx="1131394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3 commonly used methods for calculating the cyclomatic complexity-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Method-01: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Total number of closed regions in the control flow graph + 1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Method-02: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E – N + 2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= Total number of edges in the control flow graph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= Total number of nodes in the control flow graph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Method-03:</a:t>
            </a:r>
            <a:endParaRPr lang="en-US" sz="20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Cyclomatic Complexity = P + 1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algn="l"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= Total number of predicate nodes contained in the control flow graph</a:t>
            </a:r>
          </a:p>
        </p:txBody>
      </p:sp>
    </p:spTree>
    <p:extLst>
      <p:ext uri="{BB962C8B-B14F-4D97-AF65-F5344CB8AC3E}">
        <p14:creationId xmlns:p14="http://schemas.microsoft.com/office/powerpoint/2010/main" val="350989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9DE10E-3AF6-4D55-9C8F-41419C4C7B8B}"/>
              </a:ext>
            </a:extLst>
          </p:cNvPr>
          <p:cNvSpPr txBox="1"/>
          <p:nvPr/>
        </p:nvSpPr>
        <p:spPr>
          <a:xfrm>
            <a:off x="334108" y="295311"/>
            <a:ext cx="113702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Note-</a:t>
            </a:r>
            <a:endParaRPr lang="en-US" sz="28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Predicate nodes are the conditional nodes.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give rise to two branches in the control flow graph.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9415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D2668-8543-471F-9D1E-A2D45F0DB9FD}"/>
              </a:ext>
            </a:extLst>
          </p:cNvPr>
          <p:cNvSpPr txBox="1"/>
          <p:nvPr/>
        </p:nvSpPr>
        <p:spPr>
          <a:xfrm>
            <a:off x="586373" y="317279"/>
            <a:ext cx="60983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Total number of closed regions in the control flow graph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2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Method-02: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E – N + 2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8 – 7 + 2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Method-03: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Cyclomatic Complexity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P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2 + 1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= 3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36713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63F1FB-A9C0-440F-9C5F-D0DC5A323A75}"/>
              </a:ext>
            </a:extLst>
          </p:cNvPr>
          <p:cNvSpPr txBox="1"/>
          <p:nvPr/>
        </p:nvSpPr>
        <p:spPr>
          <a:xfrm>
            <a:off x="516987" y="534462"/>
            <a:ext cx="112436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1" dirty="0">
                <a:solidFill>
                  <a:srgbClr val="273239"/>
                </a:solidFill>
                <a:effectLst/>
                <a:latin typeface="urw-din"/>
              </a:rPr>
              <a:t>M = E – N + 2P</a:t>
            </a: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 </a:t>
            </a:r>
          </a:p>
          <a:p>
            <a:pPr algn="l" fontAlgn="base"/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where,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E = the number of edges in the control flow graph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N = the number of nodes in the control flow graph </a:t>
            </a:r>
            <a:b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</a:br>
            <a:r>
              <a:rPr lang="en-US" sz="3200" b="0" i="1" dirty="0">
                <a:solidFill>
                  <a:srgbClr val="273239"/>
                </a:solidFill>
                <a:effectLst/>
                <a:latin typeface="urw-din"/>
              </a:rPr>
              <a:t>P = the number of connected components </a:t>
            </a:r>
          </a:p>
        </p:txBody>
      </p:sp>
    </p:spTree>
    <p:extLst>
      <p:ext uri="{BB962C8B-B14F-4D97-AF65-F5344CB8AC3E}">
        <p14:creationId xmlns:p14="http://schemas.microsoft.com/office/powerpoint/2010/main" val="209060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6CDB62-56C0-45E2-B2F0-1933E951A83B}"/>
              </a:ext>
            </a:extLst>
          </p:cNvPr>
          <p:cNvSpPr txBox="1"/>
          <p:nvPr/>
        </p:nvSpPr>
        <p:spPr>
          <a:xfrm>
            <a:off x="362243" y="0"/>
            <a:ext cx="60983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= 10</a:t>
            </a:r>
          </a:p>
          <a:p>
            <a:r>
              <a:rPr lang="en-US" sz="2800" dirty="0"/>
              <a:t>   IF B &gt; C THEN</a:t>
            </a:r>
          </a:p>
          <a:p>
            <a:r>
              <a:rPr lang="en-US" sz="2800" dirty="0"/>
              <a:t>      A = B</a:t>
            </a:r>
          </a:p>
          <a:p>
            <a:r>
              <a:rPr lang="en-US" sz="2800" dirty="0"/>
              <a:t>   ELSE</a:t>
            </a:r>
          </a:p>
          <a:p>
            <a:r>
              <a:rPr lang="en-US" sz="2800" dirty="0"/>
              <a:t>      A = C</a:t>
            </a:r>
          </a:p>
          <a:p>
            <a:r>
              <a:rPr lang="en-US" sz="2800" dirty="0"/>
              <a:t>   ENDIF</a:t>
            </a:r>
          </a:p>
          <a:p>
            <a:r>
              <a:rPr lang="en-US" sz="2800" dirty="0"/>
              <a:t>Print A</a:t>
            </a:r>
          </a:p>
          <a:p>
            <a:r>
              <a:rPr lang="en-US" sz="2800" dirty="0"/>
              <a:t>Print B</a:t>
            </a:r>
          </a:p>
          <a:p>
            <a:r>
              <a:rPr lang="en-US" sz="2800" dirty="0"/>
              <a:t>Print C</a:t>
            </a:r>
            <a:endParaRPr lang="en-IN" sz="2800" dirty="0"/>
          </a:p>
        </p:txBody>
      </p:sp>
      <p:pic>
        <p:nvPicPr>
          <p:cNvPr id="4099" name="Picture 3" descr="cyclomatic-complexity">
            <a:extLst>
              <a:ext uri="{FF2B5EF4-FFF2-40B4-BE49-F238E27FC236}">
                <a16:creationId xmlns:a16="http://schemas.microsoft.com/office/drawing/2014/main" id="{81B4462F-7700-49AD-8AB0-377F4FA2F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747" y="396815"/>
            <a:ext cx="4210050" cy="582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B47473-4D99-41DB-B401-57C44F17D8B4}"/>
              </a:ext>
            </a:extLst>
          </p:cNvPr>
          <p:cNvSpPr txBox="1"/>
          <p:nvPr/>
        </p:nvSpPr>
        <p:spPr>
          <a:xfrm>
            <a:off x="151226" y="4186718"/>
            <a:ext cx="71175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The cyclomatic complexity calculated for above code will be from control flow graph. The graph shows seven shapes(nodes), seven lines(edges), hence cyclomatic complexity is 7-7+2 = 2. 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848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6BE633-4703-4F43-87CA-5F6FFDC066A7}"/>
              </a:ext>
            </a:extLst>
          </p:cNvPr>
          <p:cNvSpPr txBox="1"/>
          <p:nvPr/>
        </p:nvSpPr>
        <p:spPr>
          <a:xfrm>
            <a:off x="249701" y="190478"/>
            <a:ext cx="1158122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dirty="0">
                <a:solidFill>
                  <a:srgbClr val="273239"/>
                </a:solidFill>
                <a:effectLst/>
                <a:latin typeface="urw-din"/>
              </a:rPr>
              <a:t>Advantages of Cyclomatic Complexity:</a:t>
            </a: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can be used as a quality metric, gives relative complexity of various designs.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able to compute faster than the Halstead’s metrics.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used to measure the minimum effort and best areas of concentration for testing.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able to guide the testing process.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easy to apply.</a:t>
            </a:r>
          </a:p>
          <a:p>
            <a:pPr algn="l" fontAlgn="base"/>
            <a:r>
              <a:rPr lang="en-US" sz="2800" b="1" i="0" dirty="0">
                <a:solidFill>
                  <a:srgbClr val="273239"/>
                </a:solidFill>
                <a:effectLst/>
                <a:latin typeface="urw-din"/>
              </a:rPr>
              <a:t>Disadvantages of Cyclomatic Complexity:</a:t>
            </a:r>
            <a:endParaRPr lang="en-US" sz="28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It is the measure of the programs' control complexity and not the data complexity.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In this, nested conditional structures are harder to understand than non-nested structures.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73239"/>
                </a:solidFill>
                <a:effectLst/>
                <a:latin typeface="urw-din"/>
              </a:rPr>
              <a:t>In case of simple comparisons and decision structures, it may give a misleading figure.</a:t>
            </a:r>
          </a:p>
        </p:txBody>
      </p:sp>
    </p:spTree>
    <p:extLst>
      <p:ext uri="{BB962C8B-B14F-4D97-AF65-F5344CB8AC3E}">
        <p14:creationId xmlns:p14="http://schemas.microsoft.com/office/powerpoint/2010/main" val="19563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yclomatic complexity in Test Life Cycle">
            <a:extLst>
              <a:ext uri="{FF2B5EF4-FFF2-40B4-BE49-F238E27FC236}">
                <a16:creationId xmlns:a16="http://schemas.microsoft.com/office/drawing/2014/main" id="{7FCA1D29-CD62-48B9-9A0B-F34C51C8C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135" y="172720"/>
            <a:ext cx="481965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094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FD79F-C3EF-4E77-BC07-2A2CA66FDC96}"/>
              </a:ext>
            </a:extLst>
          </p:cNvPr>
          <p:cNvSpPr txBox="1"/>
          <p:nvPr/>
        </p:nvSpPr>
        <p:spPr>
          <a:xfrm>
            <a:off x="432581" y="419743"/>
            <a:ext cx="108497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Nunito" pitchFamily="2" charset="0"/>
              </a:rPr>
              <a:t>The Cyclomatic complexity is calculated using the above control flow diagram that shows seven nodes(shapes) and eight edges (lines), hence the cyclomatic complexity is 8 - 7 + 2 =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4729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D48E5-AF25-442A-8EA8-29474447882C}"/>
              </a:ext>
            </a:extLst>
          </p:cNvPr>
          <p:cNvSpPr txBox="1"/>
          <p:nvPr/>
        </p:nvSpPr>
        <p:spPr>
          <a:xfrm>
            <a:off x="502919" y="445701"/>
            <a:ext cx="111861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Problem-01: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Calculate cyclomatic complexity for the given code-</a:t>
            </a:r>
          </a:p>
          <a:p>
            <a:pPr algn="l" fontAlgn="base"/>
            <a:endParaRPr lang="en-US" sz="2800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A9AE3-81E0-484E-AFB3-6F9156260C28}"/>
              </a:ext>
            </a:extLst>
          </p:cNvPr>
          <p:cNvSpPr txBox="1"/>
          <p:nvPr/>
        </p:nvSpPr>
        <p:spPr>
          <a:xfrm>
            <a:off x="742070" y="2261583"/>
            <a:ext cx="60983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</a:t>
            </a:r>
            <a:r>
              <a:rPr lang="en-US" sz="3200" b="0" i="0" dirty="0">
                <a:solidFill>
                  <a:srgbClr val="009999"/>
                </a:solidFill>
                <a:effectLst/>
                <a:latin typeface="inherit"/>
              </a:rPr>
              <a:t>354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THEN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B </a:t>
            </a:r>
            <a:r>
              <a:rPr lang="en-US" sz="3200" b="0" i="0" dirty="0">
                <a:solidFill>
                  <a:srgbClr val="777777"/>
                </a:solidFill>
                <a:effectLst/>
                <a:latin typeface="inherit"/>
              </a:rPr>
              <a:t>&gt;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C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THEN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B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ELSE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A = C</a:t>
            </a:r>
            <a:endParaRPr lang="en-US" sz="3200" b="0" i="0" dirty="0">
              <a:solidFill>
                <a:srgbClr val="444444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END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END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en-US" sz="3200" b="1" i="0" dirty="0">
                <a:solidFill>
                  <a:srgbClr val="286491"/>
                </a:solidFill>
                <a:effectLst/>
                <a:latin typeface="inherit"/>
              </a:rPr>
              <a:t>IF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inherit"/>
              </a:rPr>
              <a:t>PRINT A</a:t>
            </a:r>
            <a:endParaRPr lang="en-US" sz="3200" b="0" i="0" dirty="0">
              <a:solidFill>
                <a:srgbClr val="AAAAAA"/>
              </a:solidFill>
              <a:effectLst/>
              <a:latin typeface="source code pro" panose="020B0604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0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B1D18B9-CB45-496C-BC35-04DB33AEE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761" y="1360508"/>
            <a:ext cx="3717985" cy="5296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EFDE1F-E1CF-4FE8-A4B5-79851FCEFCC3}"/>
              </a:ext>
            </a:extLst>
          </p:cNvPr>
          <p:cNvSpPr txBox="1"/>
          <p:nvPr/>
        </p:nvSpPr>
        <p:spPr>
          <a:xfrm>
            <a:off x="0" y="0"/>
            <a:ext cx="1212011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Solution-</a:t>
            </a:r>
            <a:endParaRPr lang="en-US" sz="2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We draw the following control flow graph for the given code-</a:t>
            </a:r>
          </a:p>
          <a:p>
            <a:pPr algn="l" fontAlgn="base"/>
            <a:r>
              <a:rPr lang="en-US" sz="2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170375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23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4861</TotalTime>
  <Words>773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Arimo</vt:lpstr>
      <vt:lpstr>Calibri</vt:lpstr>
      <vt:lpstr>Calibri Light</vt:lpstr>
      <vt:lpstr>inherit</vt:lpstr>
      <vt:lpstr>Nunito</vt:lpstr>
      <vt:lpstr>roboto condensed</vt:lpstr>
      <vt:lpstr>source code pro</vt:lpstr>
      <vt:lpstr>Times New Roman</vt:lpstr>
      <vt:lpstr>urw-din</vt:lpstr>
      <vt:lpstr>Office Theme</vt:lpstr>
      <vt:lpstr>Cyclomatic Complexity-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sarfraaz14282007111@gmail.com</cp:lastModifiedBy>
  <cp:revision>26</cp:revision>
  <dcterms:created xsi:type="dcterms:W3CDTF">2022-11-06T16:51:48Z</dcterms:created>
  <dcterms:modified xsi:type="dcterms:W3CDTF">2025-11-29T18:30:11Z</dcterms:modified>
</cp:coreProperties>
</file>