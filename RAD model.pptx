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3" r:id="rId4"/>
    <p:sldId id="264" r:id="rId5"/>
    <p:sldId id="265" r:id="rId6"/>
    <p:sldId id="266" r:id="rId7"/>
    <p:sldId id="267" r:id="rId8"/>
    <p:sldId id="269" r:id="rId9"/>
    <p:sldId id="268" r:id="rId10"/>
    <p:sldId id="258" r:id="rId11"/>
    <p:sldId id="259" r:id="rId12"/>
    <p:sldId id="260" r:id="rId13"/>
    <p:sldId id="261"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3"/>
  </p:normalViewPr>
  <p:slideViewPr>
    <p:cSldViewPr snapToGrid="0" snapToObjects="1">
      <p:cViewPr>
        <p:scale>
          <a:sx n="93" d="100"/>
          <a:sy n="93" d="100"/>
        </p:scale>
        <p:origin x="-24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196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11289"/>
            <a:ext cx="8960000" cy="504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346835"/>
            <a:ext cx="8960000" cy="504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C95309-728F-413F-8941-835C3ECE66FE}"/>
              </a:ext>
            </a:extLst>
          </p:cNvPr>
          <p:cNvSpPr txBox="1"/>
          <p:nvPr/>
        </p:nvSpPr>
        <p:spPr>
          <a:xfrm>
            <a:off x="220133" y="221398"/>
            <a:ext cx="8551333" cy="4493538"/>
          </a:xfrm>
          <a:prstGeom prst="rect">
            <a:avLst/>
          </a:prstGeom>
          <a:noFill/>
        </p:spPr>
        <p:txBody>
          <a:bodyPr wrap="square">
            <a:spAutoFit/>
          </a:bodyPr>
          <a:lstStyle/>
          <a:p>
            <a:pPr marL="285750" indent="-285750">
              <a:buFont typeface="Arial" panose="020B0604020202020204" pitchFamily="34" charset="0"/>
              <a:buChar char="•"/>
            </a:pPr>
            <a:r>
              <a:rPr lang="en-US" sz="2200" b="0" i="0" dirty="0">
                <a:solidFill>
                  <a:srgbClr val="273239"/>
                </a:solidFill>
                <a:effectLst/>
                <a:latin typeface="urw-din"/>
              </a:rPr>
              <a:t>The Rapid Application Development Model was first proposed by </a:t>
            </a:r>
            <a:r>
              <a:rPr lang="en-US" sz="2200" b="1" i="0" dirty="0">
                <a:solidFill>
                  <a:srgbClr val="273239"/>
                </a:solidFill>
                <a:effectLst/>
                <a:latin typeface="urw-din"/>
              </a:rPr>
              <a:t>IBM in the 1980s</a:t>
            </a:r>
            <a:r>
              <a:rPr lang="en-US" sz="2200" b="0" i="0" dirty="0">
                <a:solidFill>
                  <a:srgbClr val="273239"/>
                </a:solidFill>
                <a:effectLst/>
                <a:latin typeface="urw-din"/>
              </a:rPr>
              <a:t>.</a:t>
            </a:r>
          </a:p>
          <a:p>
            <a:pPr marL="285750" indent="-285750">
              <a:buFont typeface="Arial" panose="020B0604020202020204" pitchFamily="34" charset="0"/>
              <a:buChar char="•"/>
            </a:pPr>
            <a:r>
              <a:rPr lang="en-US" sz="2200" b="0" i="0" dirty="0">
                <a:solidFill>
                  <a:srgbClr val="273239"/>
                </a:solidFill>
                <a:effectLst/>
                <a:latin typeface="urw-din"/>
              </a:rPr>
              <a:t> The critical feature of this model is the use of powerful development tools and techniques.</a:t>
            </a:r>
          </a:p>
          <a:p>
            <a:pPr marL="285750" indent="-285750">
              <a:buFont typeface="Arial" panose="020B0604020202020204" pitchFamily="34" charset="0"/>
              <a:buChar char="•"/>
            </a:pPr>
            <a:r>
              <a:rPr lang="en-US" sz="2200" b="0" i="0" dirty="0">
                <a:solidFill>
                  <a:srgbClr val="273239"/>
                </a:solidFill>
                <a:effectLst/>
                <a:latin typeface="urw-din"/>
              </a:rPr>
              <a:t> A software project can be implemented using this model if the </a:t>
            </a:r>
            <a:r>
              <a:rPr lang="en-US" sz="2200" b="1" i="0" dirty="0">
                <a:solidFill>
                  <a:srgbClr val="273239"/>
                </a:solidFill>
                <a:effectLst/>
                <a:latin typeface="urw-din"/>
              </a:rPr>
              <a:t>project can be broken down into small modules</a:t>
            </a:r>
            <a:r>
              <a:rPr lang="en-US" sz="2200" b="0" i="0" dirty="0">
                <a:solidFill>
                  <a:srgbClr val="273239"/>
                </a:solidFill>
                <a:effectLst/>
                <a:latin typeface="urw-din"/>
              </a:rPr>
              <a:t> wherein each module can be assigned </a:t>
            </a:r>
            <a:r>
              <a:rPr lang="en-US" sz="2200" b="1" i="0" dirty="0">
                <a:solidFill>
                  <a:srgbClr val="273239"/>
                </a:solidFill>
                <a:effectLst/>
                <a:latin typeface="urw-din"/>
              </a:rPr>
              <a:t>independently to separate teams</a:t>
            </a:r>
            <a:r>
              <a:rPr lang="en-US" sz="2200" b="0" i="0" dirty="0">
                <a:solidFill>
                  <a:srgbClr val="273239"/>
                </a:solidFill>
                <a:effectLst/>
                <a:latin typeface="urw-din"/>
              </a:rPr>
              <a:t>. These modules can </a:t>
            </a:r>
            <a:r>
              <a:rPr lang="en-US" sz="2200" b="1" i="0" dirty="0">
                <a:solidFill>
                  <a:srgbClr val="273239"/>
                </a:solidFill>
                <a:effectLst/>
                <a:latin typeface="urw-din"/>
              </a:rPr>
              <a:t>finally be combined to form the final product</a:t>
            </a:r>
            <a:r>
              <a:rPr lang="en-US" sz="2200" b="0" i="0" dirty="0">
                <a:solidFill>
                  <a:srgbClr val="273239"/>
                </a:solidFill>
                <a:effectLst/>
                <a:latin typeface="urw-din"/>
              </a:rPr>
              <a:t>. </a:t>
            </a:r>
          </a:p>
          <a:p>
            <a:pPr marL="285750" indent="-285750">
              <a:buFont typeface="Arial" panose="020B0604020202020204" pitchFamily="34" charset="0"/>
              <a:buChar char="•"/>
            </a:pPr>
            <a:r>
              <a:rPr lang="en-US" sz="2200" b="0" i="0" dirty="0">
                <a:solidFill>
                  <a:srgbClr val="273239"/>
                </a:solidFill>
                <a:effectLst/>
                <a:latin typeface="urw-din"/>
              </a:rPr>
              <a:t>Development of each module involves the various basic steps as in the </a:t>
            </a:r>
            <a:r>
              <a:rPr lang="en-US" sz="2200" b="1" i="0" dirty="0">
                <a:solidFill>
                  <a:srgbClr val="273239"/>
                </a:solidFill>
                <a:effectLst/>
                <a:latin typeface="urw-din"/>
              </a:rPr>
              <a:t>waterfall model </a:t>
            </a:r>
            <a:r>
              <a:rPr lang="en-US" sz="2200" b="0" i="0" dirty="0" err="1">
                <a:solidFill>
                  <a:srgbClr val="273239"/>
                </a:solidFill>
                <a:effectLst/>
                <a:latin typeface="urw-din"/>
              </a:rPr>
              <a:t>i.e</a:t>
            </a:r>
            <a:r>
              <a:rPr lang="en-US" sz="2200" b="0" i="0" dirty="0">
                <a:solidFill>
                  <a:srgbClr val="273239"/>
                </a:solidFill>
                <a:effectLst/>
                <a:latin typeface="urw-din"/>
              </a:rPr>
              <a:t> analyzing, designing, coding, and then testing, etc. as shown in the figure.</a:t>
            </a:r>
          </a:p>
          <a:p>
            <a:pPr marL="285750" indent="-285750">
              <a:buFont typeface="Arial" panose="020B0604020202020204" pitchFamily="34" charset="0"/>
              <a:buChar char="•"/>
            </a:pPr>
            <a:r>
              <a:rPr lang="en-US" sz="2200" b="0" i="0" dirty="0">
                <a:solidFill>
                  <a:srgbClr val="273239"/>
                </a:solidFill>
                <a:effectLst/>
                <a:latin typeface="urw-din"/>
              </a:rPr>
              <a:t> Another striking feature of this model is a short time span </a:t>
            </a:r>
            <a:r>
              <a:rPr lang="en-US" sz="2200" b="0" i="0" dirty="0" err="1">
                <a:solidFill>
                  <a:srgbClr val="273239"/>
                </a:solidFill>
                <a:effectLst/>
                <a:latin typeface="urw-din"/>
              </a:rPr>
              <a:t>i.e</a:t>
            </a:r>
            <a:r>
              <a:rPr lang="en-US" sz="2200" b="0" i="0" dirty="0">
                <a:solidFill>
                  <a:srgbClr val="273239"/>
                </a:solidFill>
                <a:effectLst/>
                <a:latin typeface="urw-din"/>
              </a:rPr>
              <a:t> the time frame </a:t>
            </a:r>
            <a:r>
              <a:rPr lang="en-US" sz="2200" b="1" i="0" dirty="0">
                <a:solidFill>
                  <a:srgbClr val="273239"/>
                </a:solidFill>
                <a:effectLst/>
                <a:latin typeface="urw-din"/>
              </a:rPr>
              <a:t>for delivery(time-box) is generally 60-90 days.</a:t>
            </a:r>
            <a:endParaRPr lang="en-IN" sz="2200" b="1" dirty="0"/>
          </a:p>
        </p:txBody>
      </p:sp>
    </p:spTree>
    <p:extLst>
      <p:ext uri="{BB962C8B-B14F-4D97-AF65-F5344CB8AC3E}">
        <p14:creationId xmlns:p14="http://schemas.microsoft.com/office/powerpoint/2010/main" val="4012330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069CFEA-5B66-4613-A4E2-D59FAA5AC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485" y="90311"/>
            <a:ext cx="8620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916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7EB8C8-E4D5-4DE4-8789-D2FDA40824D7}"/>
              </a:ext>
            </a:extLst>
          </p:cNvPr>
          <p:cNvSpPr txBox="1"/>
          <p:nvPr/>
        </p:nvSpPr>
        <p:spPr>
          <a:xfrm>
            <a:off x="282222" y="97726"/>
            <a:ext cx="8534400" cy="5016758"/>
          </a:xfrm>
          <a:prstGeom prst="rect">
            <a:avLst/>
          </a:prstGeom>
          <a:noFill/>
        </p:spPr>
        <p:txBody>
          <a:bodyPr wrap="square">
            <a:spAutoFit/>
          </a:bodyPr>
          <a:lstStyle/>
          <a:p>
            <a:pPr algn="just" fontAlgn="base"/>
            <a:r>
              <a:rPr lang="en-US" sz="2000" b="0" i="0" dirty="0">
                <a:solidFill>
                  <a:srgbClr val="273239"/>
                </a:solidFill>
                <a:effectLst/>
                <a:latin typeface="urw-din"/>
              </a:rPr>
              <a:t>The use of powerful developer tools such as JAVA, C++, Visual BASIC, XML, etc. is also an integral part of the projects. </a:t>
            </a:r>
            <a:r>
              <a:rPr lang="en-US" sz="2000" b="1" i="0" dirty="0">
                <a:solidFill>
                  <a:srgbClr val="273239"/>
                </a:solidFill>
                <a:effectLst/>
                <a:latin typeface="urw-din"/>
              </a:rPr>
              <a:t>This model consists of 4 basic phases:</a:t>
            </a:r>
          </a:p>
          <a:p>
            <a:pPr algn="just" fontAlgn="base">
              <a:buFont typeface="+mj-lt"/>
              <a:buAutoNum type="arabicPeriod"/>
            </a:pPr>
            <a:endParaRPr lang="en-US" sz="2000" b="1" i="0" dirty="0">
              <a:solidFill>
                <a:srgbClr val="273239"/>
              </a:solidFill>
              <a:effectLst/>
              <a:latin typeface="urw-din"/>
            </a:endParaRPr>
          </a:p>
          <a:p>
            <a:pPr algn="just" fontAlgn="base">
              <a:buFont typeface="+mj-lt"/>
              <a:buAutoNum type="arabicPeriod"/>
            </a:pPr>
            <a:r>
              <a:rPr lang="en-US" sz="2000" b="1" i="0" dirty="0">
                <a:solidFill>
                  <a:srgbClr val="273239"/>
                </a:solidFill>
                <a:effectLst/>
                <a:latin typeface="urw-din"/>
              </a:rPr>
              <a:t>Requirements Planning –</a:t>
            </a:r>
            <a:r>
              <a:rPr lang="en-US" sz="2000" b="0" i="0" dirty="0">
                <a:solidFill>
                  <a:srgbClr val="273239"/>
                </a:solidFill>
                <a:effectLst/>
                <a:latin typeface="urw-din"/>
              </a:rPr>
              <a:t> It involves the use of various techniques used in requirements elicitation like brainstorming, task analysis, form analysis, user scenarios, FAST (Facilitated Application Development Technique), etc. It also consists of the entire structured plan describing the critical data, methods to obtain it, and then processing it to form a final refined model.</a:t>
            </a:r>
          </a:p>
          <a:p>
            <a:pPr algn="just" fontAlgn="base">
              <a:buFont typeface="+mj-lt"/>
              <a:buAutoNum type="arabicPeriod"/>
            </a:pPr>
            <a:r>
              <a:rPr lang="en-US" sz="2000" b="1" i="0" dirty="0">
                <a:solidFill>
                  <a:srgbClr val="273239"/>
                </a:solidFill>
                <a:effectLst/>
                <a:latin typeface="urw-din"/>
              </a:rPr>
              <a:t>User Description –</a:t>
            </a:r>
            <a:r>
              <a:rPr lang="en-US" sz="2000" b="0" i="0" dirty="0">
                <a:solidFill>
                  <a:srgbClr val="273239"/>
                </a:solidFill>
                <a:effectLst/>
                <a:latin typeface="urw-din"/>
              </a:rPr>
              <a:t> This phase consists of taking user feedback and building the prototype using developer tools. In other words, it includes re-examination and validation of the data collected in the first phase. The dataset attributes are also identified and elucidated in this phase.</a:t>
            </a:r>
          </a:p>
          <a:p>
            <a:pPr algn="just" fontAlgn="base">
              <a:buFont typeface="+mj-lt"/>
              <a:buAutoNum type="arabicPeriod"/>
            </a:pPr>
            <a:r>
              <a:rPr lang="en-US" sz="2000" b="1" i="0" dirty="0">
                <a:solidFill>
                  <a:srgbClr val="273239"/>
                </a:solidFill>
                <a:effectLst/>
                <a:latin typeface="urw-din"/>
              </a:rPr>
              <a:t>Construction –</a:t>
            </a:r>
            <a:r>
              <a:rPr lang="en-US" sz="2000" b="0" i="0" dirty="0">
                <a:solidFill>
                  <a:srgbClr val="273239"/>
                </a:solidFill>
                <a:effectLst/>
                <a:latin typeface="urw-din"/>
              </a:rPr>
              <a:t> In this phase, refinement of the prototype and delivery takes place. It includes the actual use of powerful automated tools to transform process and data models into the final working product. All the required modifications and enhancements are too done in this phase.</a:t>
            </a:r>
          </a:p>
        </p:txBody>
      </p:sp>
    </p:spTree>
    <p:extLst>
      <p:ext uri="{BB962C8B-B14F-4D97-AF65-F5344CB8AC3E}">
        <p14:creationId xmlns:p14="http://schemas.microsoft.com/office/powerpoint/2010/main" val="348333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E2834-87B3-488E-9123-B5053158937C}"/>
              </a:ext>
            </a:extLst>
          </p:cNvPr>
          <p:cNvSpPr txBox="1"/>
          <p:nvPr/>
        </p:nvSpPr>
        <p:spPr>
          <a:xfrm>
            <a:off x="186267" y="195281"/>
            <a:ext cx="8664222" cy="1569660"/>
          </a:xfrm>
          <a:prstGeom prst="rect">
            <a:avLst/>
          </a:prstGeom>
          <a:noFill/>
        </p:spPr>
        <p:txBody>
          <a:bodyPr wrap="square">
            <a:spAutoFit/>
          </a:bodyPr>
          <a:lstStyle/>
          <a:p>
            <a:pPr algn="just" fontAlgn="base"/>
            <a:r>
              <a:rPr lang="en-US" sz="2400" b="1" i="0" dirty="0">
                <a:solidFill>
                  <a:srgbClr val="273239"/>
                </a:solidFill>
                <a:effectLst/>
                <a:latin typeface="urw-din"/>
              </a:rPr>
              <a:t>4. Cutover –</a:t>
            </a:r>
            <a:r>
              <a:rPr lang="en-US" sz="2400" b="0" i="0" dirty="0">
                <a:solidFill>
                  <a:srgbClr val="273239"/>
                </a:solidFill>
                <a:effectLst/>
                <a:latin typeface="urw-din"/>
              </a:rPr>
              <a:t> All the interfaces between the independent modules developed by separate teams have to be tested properly. The use of powerfully automated tools and subparts makes testing easier. This is followed by acceptance testing by the user.</a:t>
            </a:r>
          </a:p>
        </p:txBody>
      </p:sp>
    </p:spTree>
    <p:extLst>
      <p:ext uri="{BB962C8B-B14F-4D97-AF65-F5344CB8AC3E}">
        <p14:creationId xmlns:p14="http://schemas.microsoft.com/office/powerpoint/2010/main" val="184830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D88523-24EB-4FD8-A56A-2796DE25BD36}"/>
              </a:ext>
            </a:extLst>
          </p:cNvPr>
          <p:cNvSpPr txBox="1"/>
          <p:nvPr/>
        </p:nvSpPr>
        <p:spPr>
          <a:xfrm>
            <a:off x="237066" y="171093"/>
            <a:ext cx="8398934" cy="3539430"/>
          </a:xfrm>
          <a:prstGeom prst="rect">
            <a:avLst/>
          </a:prstGeom>
          <a:noFill/>
        </p:spPr>
        <p:txBody>
          <a:bodyPr wrap="square">
            <a:spAutoFit/>
          </a:bodyPr>
          <a:lstStyle/>
          <a:p>
            <a:pPr algn="just" fontAlgn="base"/>
            <a:r>
              <a:rPr lang="en-US" sz="2800" b="1" i="0" dirty="0">
                <a:solidFill>
                  <a:srgbClr val="273239"/>
                </a:solidFill>
                <a:effectLst/>
                <a:latin typeface="urw-din"/>
              </a:rPr>
              <a:t>When to use RAD Model</a:t>
            </a:r>
          </a:p>
          <a:p>
            <a:pPr algn="just" fontAlgn="base"/>
            <a:r>
              <a:rPr lang="en-US" sz="2800" b="0" i="0" dirty="0">
                <a:solidFill>
                  <a:srgbClr val="273239"/>
                </a:solidFill>
                <a:effectLst/>
                <a:latin typeface="urw-din"/>
              </a:rPr>
              <a:t>When the customer has well-known requirements, the user is involved throughout the life cycle, the project can be time boxed, the functionality </a:t>
            </a:r>
            <a:r>
              <a:rPr lang="en-US" sz="2800" b="1" i="0" dirty="0">
                <a:solidFill>
                  <a:srgbClr val="273239"/>
                </a:solidFill>
                <a:effectLst/>
                <a:latin typeface="urw-din"/>
              </a:rPr>
              <a:t>delivered in increments, high performance is not required, low technical risks are involved and the system can be modularized</a:t>
            </a:r>
            <a:r>
              <a:rPr lang="en-US" sz="2800" b="0" i="0" dirty="0">
                <a:solidFill>
                  <a:srgbClr val="273239"/>
                </a:solidFill>
                <a:effectLst/>
                <a:latin typeface="urw-din"/>
              </a:rPr>
              <a:t>. </a:t>
            </a:r>
          </a:p>
          <a:p>
            <a:pPr algn="just" fontAlgn="base"/>
            <a:r>
              <a:rPr lang="en-US" sz="2800" b="0" i="0" dirty="0">
                <a:solidFill>
                  <a:srgbClr val="273239"/>
                </a:solidFill>
                <a:effectLst/>
                <a:latin typeface="urw-din"/>
              </a:rPr>
              <a:t>In these cases, we can use the RAD Model.</a:t>
            </a:r>
          </a:p>
        </p:txBody>
      </p:sp>
    </p:spTree>
    <p:extLst>
      <p:ext uri="{BB962C8B-B14F-4D97-AF65-F5344CB8AC3E}">
        <p14:creationId xmlns:p14="http://schemas.microsoft.com/office/powerpoint/2010/main" val="4032818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715857-D2B4-4D4A-809D-F39B1A608C44}"/>
              </a:ext>
            </a:extLst>
          </p:cNvPr>
          <p:cNvSpPr txBox="1"/>
          <p:nvPr/>
        </p:nvSpPr>
        <p:spPr>
          <a:xfrm>
            <a:off x="220132" y="140184"/>
            <a:ext cx="8562623" cy="4493538"/>
          </a:xfrm>
          <a:prstGeom prst="rect">
            <a:avLst/>
          </a:prstGeom>
          <a:noFill/>
        </p:spPr>
        <p:txBody>
          <a:bodyPr wrap="square">
            <a:spAutoFit/>
          </a:bodyPr>
          <a:lstStyle/>
          <a:p>
            <a:pPr algn="l"/>
            <a:r>
              <a:rPr lang="en-US" sz="2600" b="1" i="0" dirty="0">
                <a:solidFill>
                  <a:srgbClr val="222222"/>
                </a:solidFill>
                <a:effectLst/>
                <a:latin typeface="Source Sans Pro" panose="020B0503030403020204" pitchFamily="34" charset="0"/>
              </a:rPr>
              <a:t>When to use RAD Methodology?</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a system needs to be produced in a </a:t>
            </a:r>
            <a:r>
              <a:rPr lang="en-US" sz="2600" b="1" i="0" dirty="0">
                <a:solidFill>
                  <a:srgbClr val="222222"/>
                </a:solidFill>
                <a:effectLst/>
                <a:latin typeface="Source Sans Pro" panose="020B0503030403020204" pitchFamily="34" charset="0"/>
              </a:rPr>
              <a:t>short span of time (2-3 months)</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the </a:t>
            </a:r>
            <a:r>
              <a:rPr lang="en-US" sz="2600" b="1" i="0" dirty="0">
                <a:solidFill>
                  <a:srgbClr val="222222"/>
                </a:solidFill>
                <a:effectLst/>
                <a:latin typeface="Source Sans Pro" panose="020B0503030403020204" pitchFamily="34" charset="0"/>
              </a:rPr>
              <a:t>requirements are known</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the </a:t>
            </a:r>
            <a:r>
              <a:rPr lang="en-US" sz="2600" b="1" i="0" dirty="0">
                <a:solidFill>
                  <a:srgbClr val="222222"/>
                </a:solidFill>
                <a:effectLst/>
                <a:latin typeface="Source Sans Pro" panose="020B0503030403020204" pitchFamily="34" charset="0"/>
              </a:rPr>
              <a:t>user will be involved </a:t>
            </a:r>
            <a:r>
              <a:rPr lang="en-US" sz="2600" b="0" i="0" dirty="0">
                <a:solidFill>
                  <a:srgbClr val="222222"/>
                </a:solidFill>
                <a:effectLst/>
                <a:latin typeface="Source Sans Pro" panose="020B0503030403020204" pitchFamily="34" charset="0"/>
              </a:rPr>
              <a:t>all through the life cycle</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a:t>
            </a:r>
            <a:r>
              <a:rPr lang="en-US" sz="2600" b="1" i="0" dirty="0">
                <a:solidFill>
                  <a:srgbClr val="222222"/>
                </a:solidFill>
                <a:effectLst/>
                <a:latin typeface="Source Sans Pro" panose="020B0503030403020204" pitchFamily="34" charset="0"/>
              </a:rPr>
              <a:t>technical risk is less</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there is a necessity to create a system that can be modularized in </a:t>
            </a:r>
            <a:r>
              <a:rPr lang="en-US" sz="2600" b="1" i="0" dirty="0">
                <a:solidFill>
                  <a:srgbClr val="222222"/>
                </a:solidFill>
                <a:effectLst/>
                <a:latin typeface="Source Sans Pro" panose="020B0503030403020204" pitchFamily="34" charset="0"/>
              </a:rPr>
              <a:t>2-3 months of time</a:t>
            </a:r>
          </a:p>
          <a:p>
            <a:pPr algn="l">
              <a:buFont typeface="Arial" panose="020B0604020202020204" pitchFamily="34" charset="0"/>
              <a:buChar char="•"/>
            </a:pPr>
            <a:r>
              <a:rPr lang="en-US" sz="2600" b="0" i="0" dirty="0">
                <a:solidFill>
                  <a:srgbClr val="222222"/>
                </a:solidFill>
                <a:effectLst/>
                <a:latin typeface="Source Sans Pro" panose="020B0503030403020204" pitchFamily="34" charset="0"/>
              </a:rPr>
              <a:t>When </a:t>
            </a:r>
            <a:r>
              <a:rPr lang="en-US" sz="2600" b="1" i="0" dirty="0">
                <a:solidFill>
                  <a:srgbClr val="222222"/>
                </a:solidFill>
                <a:effectLst/>
                <a:latin typeface="Source Sans Pro" panose="020B0503030403020204" pitchFamily="34" charset="0"/>
              </a:rPr>
              <a:t>a budget is high enough to afford designers </a:t>
            </a:r>
            <a:r>
              <a:rPr lang="en-US" sz="2600" b="0" i="0" dirty="0">
                <a:solidFill>
                  <a:srgbClr val="222222"/>
                </a:solidFill>
                <a:effectLst/>
                <a:latin typeface="Source Sans Pro" panose="020B0503030403020204" pitchFamily="34" charset="0"/>
              </a:rPr>
              <a:t>for modeling along with the cost of automated tools for code generation</a:t>
            </a:r>
          </a:p>
        </p:txBody>
      </p:sp>
    </p:spTree>
    <p:extLst>
      <p:ext uri="{BB962C8B-B14F-4D97-AF65-F5344CB8AC3E}">
        <p14:creationId xmlns:p14="http://schemas.microsoft.com/office/powerpoint/2010/main" val="3637456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7EBDF5-27CB-4EAA-B963-5B0F22FB055A}"/>
              </a:ext>
            </a:extLst>
          </p:cNvPr>
          <p:cNvSpPr txBox="1"/>
          <p:nvPr/>
        </p:nvSpPr>
        <p:spPr>
          <a:xfrm>
            <a:off x="293510" y="159730"/>
            <a:ext cx="8568267" cy="4154984"/>
          </a:xfrm>
          <a:prstGeom prst="rect">
            <a:avLst/>
          </a:prstGeom>
          <a:noFill/>
        </p:spPr>
        <p:txBody>
          <a:bodyPr wrap="square">
            <a:spAutoFit/>
          </a:bodyPr>
          <a:lstStyle/>
          <a:p>
            <a:pPr algn="l"/>
            <a:r>
              <a:rPr lang="en-US" sz="2400" b="1" i="0" dirty="0">
                <a:solidFill>
                  <a:srgbClr val="222222"/>
                </a:solidFill>
                <a:effectLst/>
                <a:latin typeface="Source Sans Pro" panose="020B0503030403020204" pitchFamily="34" charset="0"/>
              </a:rPr>
              <a:t>RAD Model</a:t>
            </a:r>
            <a:r>
              <a:rPr lang="en-US" sz="2400" b="0" i="0" dirty="0">
                <a:solidFill>
                  <a:srgbClr val="222222"/>
                </a:solidFill>
                <a:effectLst/>
                <a:latin typeface="Source Sans Pro" panose="020B0503030403020204" pitchFamily="34" charset="0"/>
              </a:rPr>
              <a:t> or Rapid Application Development model is a software development process based on prototyping without any specific planning. In RAD model, there is less attention paid to the planning and more priority is given to the development tasks. It targets at developing software in a short span of time.</a:t>
            </a:r>
          </a:p>
          <a:p>
            <a:pPr algn="l"/>
            <a:r>
              <a:rPr lang="en-US" sz="2400" b="0" i="0" dirty="0">
                <a:solidFill>
                  <a:srgbClr val="222222"/>
                </a:solidFill>
                <a:effectLst/>
                <a:latin typeface="Source Sans Pro" panose="020B0503030403020204" pitchFamily="34" charset="0"/>
              </a:rPr>
              <a:t>SDLC RAD modeling has following phases</a:t>
            </a:r>
          </a:p>
          <a:p>
            <a:pPr algn="l">
              <a:buFont typeface="Arial" panose="020B0604020202020204" pitchFamily="34" charset="0"/>
              <a:buChar char="•"/>
            </a:pPr>
            <a:r>
              <a:rPr lang="en-US" sz="2400" b="0" i="0" dirty="0">
                <a:solidFill>
                  <a:srgbClr val="222222"/>
                </a:solidFill>
                <a:effectLst/>
                <a:latin typeface="Source Sans Pro" panose="020B0503030403020204" pitchFamily="34" charset="0"/>
              </a:rPr>
              <a:t>Business Modeling</a:t>
            </a:r>
          </a:p>
          <a:p>
            <a:pPr algn="l">
              <a:buFont typeface="Arial" panose="020B0604020202020204" pitchFamily="34" charset="0"/>
              <a:buChar char="•"/>
            </a:pPr>
            <a:r>
              <a:rPr lang="en-US" sz="2400" b="0" i="0" dirty="0">
                <a:solidFill>
                  <a:srgbClr val="222222"/>
                </a:solidFill>
                <a:effectLst/>
                <a:latin typeface="Source Sans Pro" panose="020B0503030403020204" pitchFamily="34" charset="0"/>
              </a:rPr>
              <a:t>Data Modeling</a:t>
            </a:r>
          </a:p>
          <a:p>
            <a:pPr algn="l">
              <a:buFont typeface="Arial" panose="020B0604020202020204" pitchFamily="34" charset="0"/>
              <a:buChar char="•"/>
            </a:pPr>
            <a:r>
              <a:rPr lang="en-US" sz="2400" b="0" i="0" dirty="0">
                <a:solidFill>
                  <a:srgbClr val="222222"/>
                </a:solidFill>
                <a:effectLst/>
                <a:latin typeface="Source Sans Pro" panose="020B0503030403020204" pitchFamily="34" charset="0"/>
              </a:rPr>
              <a:t>Process Modeling</a:t>
            </a:r>
          </a:p>
          <a:p>
            <a:pPr algn="l">
              <a:buFont typeface="Arial" panose="020B0604020202020204" pitchFamily="34" charset="0"/>
              <a:buChar char="•"/>
            </a:pPr>
            <a:r>
              <a:rPr lang="en-US" sz="2400" b="0" i="0" dirty="0">
                <a:solidFill>
                  <a:srgbClr val="222222"/>
                </a:solidFill>
                <a:effectLst/>
                <a:latin typeface="Source Sans Pro" panose="020B0503030403020204" pitchFamily="34" charset="0"/>
              </a:rPr>
              <a:t>Application Generation</a:t>
            </a:r>
          </a:p>
          <a:p>
            <a:pPr algn="l">
              <a:buFont typeface="Arial" panose="020B0604020202020204" pitchFamily="34" charset="0"/>
              <a:buChar char="•"/>
            </a:pPr>
            <a:r>
              <a:rPr lang="en-US" sz="2400" b="0" i="0" dirty="0">
                <a:solidFill>
                  <a:srgbClr val="222222"/>
                </a:solidFill>
                <a:effectLst/>
                <a:latin typeface="Source Sans Pro" panose="020B0503030403020204" pitchFamily="34" charset="0"/>
              </a:rPr>
              <a:t>Testing and Turnover</a:t>
            </a:r>
          </a:p>
        </p:txBody>
      </p:sp>
    </p:spTree>
    <p:extLst>
      <p:ext uri="{BB962C8B-B14F-4D97-AF65-F5344CB8AC3E}">
        <p14:creationId xmlns:p14="http://schemas.microsoft.com/office/powerpoint/2010/main" val="3940778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31750"/>
            <a:ext cx="8960000" cy="50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0"/>
            <a:ext cx="8960000" cy="504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51750"/>
            <a:ext cx="8960000" cy="504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92000" y="51750"/>
            <a:ext cx="8960000" cy="504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apid Application Development's Pros and Cons Explained">
            <a:extLst>
              <a:ext uri="{FF2B5EF4-FFF2-40B4-BE49-F238E27FC236}">
                <a16:creationId xmlns:a16="http://schemas.microsoft.com/office/drawing/2014/main" id="{DF406783-7F24-405D-9678-2B941959F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04" y="354894"/>
            <a:ext cx="8622595" cy="4788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378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600</Words>
  <Application>Microsoft Office PowerPoint</Application>
  <PresentationFormat>On-screen Show (16:9)</PresentationFormat>
  <Paragraphs>34</Paragraphs>
  <Slides>14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Source Sans Pro</vt:lpstr>
      <vt:lpstr>urw-din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13</cp:revision>
  <dcterms:created xsi:type="dcterms:W3CDTF">2022-08-21T17:48:52Z</dcterms:created>
  <dcterms:modified xsi:type="dcterms:W3CDTF">2022-10-10T10:15:18Z</dcterms:modified>
</cp:coreProperties>
</file>